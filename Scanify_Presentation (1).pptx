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658" y="88491"/>
            <a:ext cx="11975690" cy="662694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Scanify – Smart Document Scanner</a:t>
            </a:r>
          </a:p>
          <a:p>
            <a:pPr>
              <a:spcBef>
                <a:spcPts val="1000"/>
              </a:spcBef>
              <a:defRPr sz="2000">
                <a:solidFill>
                  <a:srgbClr val="2563EB"/>
                </a:solidFill>
                <a:latin typeface="Arial"/>
              </a:defRPr>
            </a:pPr>
            <a:r>
              <a:t>From Paper Photographs to Clear Digital Documents</a:t>
            </a:r>
          </a:p>
          <a:p>
            <a:br/>
            <a:r>
              <a:t>A lightweight image-processing application built with Python, OpenCV, NumPy, and Streamlit that simplifies document digitization by cleaning, straightening, and converting smartphone photographs into professional digital PDFs.</a:t>
            </a:r>
          </a:p>
          <a:p>
            <a:br/>
            <a:r>
              <a:t>Presented by: Student Name | Roll Number: XXXXXX</a:t>
            </a:r>
            <a:br/>
            <a:r>
              <a:t>Department of Computer Science &amp; Engineering | College 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Introduction &amp; Motivation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Why everyday document photographs need smart digital enhancement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The Everyday Document Challenge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Mobile phones are frequently used to photograph notes, receipts, forms, and textbook pages for instant record-keeping.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Camera angles create perspective distortion, making rectangular pages appear as awkward trapezoids.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Environmental shadows, uneven room lighting, and glare obscure text and reduce readability.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Image noise, blur, and low contrast make digital copies difficult to read, store, or share professionally.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Traditional hardware scanners solve these issues but are bulky, slow, and unavailable when mobile.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Enter Scanify: Software-Based Vision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Scanify provides a lightweight software alternative powered by established computer-vision algorithms.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It eliminates the need for heavy deep-learning frameworks, running efficiently on standard hardware.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Automates page boundary detection to crop out distracting background surfaces instantly.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Applies mathematical perspective transformations to straighten angled photographs into flat views.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Enhances contrast, filters noise, and exports clean, multi-page digital documents directly into PDF format.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Problem Statement, Objectives &amp; Scope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Defining the core goals, operational objectives, and boundaries of Scanify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Core Objectives &amp; Goals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Problem: Raw camera photographs lack standardized alignment, clear contrast, and clean borders required for official record keeping.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Boundary Detection: Automatically locate the four outer corners of paper documents within complex backgrounds.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Perspective Correction: Transform angled photographs into front-facing rectangular views for clarity.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Readability Enhancement: Apply adaptive thresholding and contrast adjustments to eliminate shadows.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Export &amp; Preview: Allow real-time user inspection and batch export of processed pages into a single PDF.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Project Scope &amp; Practical Limits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Target Use Cases: Digitizing receipts, textbook pages, hand-written lecture notes, and office forms.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Processing Model: Interactive desktop web application designed for students and everyday personal record keeping.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Lighting Dependency: Performance depends on adequate contrast between the document paper and its background surface.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Edge Visibility: Automatic boundary detection requires all four corners of the document to be clearly visible in the frame.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Distortion Limits: Highly curved, folded, or severely blurred pages cannot be fully flattened by standard perspective transforms.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Technologies and Their Roles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The modern Python technology stack powering Scanify's vision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Python</a:t>
            </a:r>
          </a:p>
          <a:p>
            <a:pPr>
              <a:spcBef>
                <a:spcPts val="400"/>
              </a:spcBef>
              <a:defRPr sz="1400" b="1">
                <a:solidFill>
                  <a:srgbClr val="2563EB"/>
                </a:solidFill>
              </a:defRPr>
            </a:pPr>
            <a:r>
              <a:t>Core Programming Language</a:t>
            </a:r>
          </a:p>
          <a:p>
            <a:br/>
            <a:r>
              <a:t>• Role in Scanify:</a:t>
            </a:r>
            <a:br/>
            <a:r>
              <a:t>Implements application control flow, orchestrates the image processing pipeline, and manages file input/output operations cleanly.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39312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OpenCV</a:t>
            </a:r>
          </a:p>
          <a:p>
            <a:pPr>
              <a:spcBef>
                <a:spcPts val="400"/>
              </a:spcBef>
              <a:defRPr sz="1400" b="1">
                <a:solidFill>
                  <a:srgbClr val="2563EB"/>
                </a:solidFill>
              </a:defRPr>
            </a:pPr>
            <a:r>
              <a:t>Computer Vision Engine</a:t>
            </a:r>
          </a:p>
          <a:p>
            <a:br/>
            <a:r>
              <a:t>• Role in Scanify:</a:t>
            </a:r>
            <a:br/>
            <a:r>
              <a:t>Provides robust algorithms for image filtering, Canny edge detection, contour analysis, and geometric perspective transformations.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64224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NumPy</a:t>
            </a:r>
          </a:p>
          <a:p>
            <a:pPr>
              <a:spcBef>
                <a:spcPts val="400"/>
              </a:spcBef>
              <a:defRPr sz="1400" b="1">
                <a:solidFill>
                  <a:srgbClr val="2563EB"/>
                </a:solidFill>
              </a:defRPr>
            </a:pPr>
            <a:r>
              <a:t>Matrix &amp; Array Operations</a:t>
            </a:r>
          </a:p>
          <a:p>
            <a:br/>
            <a:r>
              <a:t>• Role in Scanify:</a:t>
            </a:r>
            <a:br/>
            <a:r>
              <a:t>Handles high-performance manipulation of image pixel values represented as multidimensional numerical arrays efficiently.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89136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Streamlit</a:t>
            </a:r>
          </a:p>
          <a:p>
            <a:pPr>
              <a:spcBef>
                <a:spcPts val="400"/>
              </a:spcBef>
              <a:defRPr sz="1400" b="1">
                <a:solidFill>
                  <a:srgbClr val="2563EB"/>
                </a:solidFill>
              </a:defRPr>
            </a:pPr>
            <a:r>
              <a:t>Interactive Web UI</a:t>
            </a:r>
          </a:p>
          <a:p>
            <a:br/>
            <a:r>
              <a:t>• Role in Scanify:</a:t>
            </a:r>
            <a:br/>
            <a:r>
              <a:t>Delivers an accessible, browser-based user interface allowing users to upload images, adjust settings, and preview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Complete Project Workflow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End-to-end pipeline transforming raw photographs into digital PDF documents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6795" y="1853873"/>
            <a:ext cx="1521762" cy="190352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9877" y="2072148"/>
            <a:ext cx="11139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rPr dirty="0"/>
              <a:t>1. Upload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dirty="0"/>
              <a:t>User selects a JPEG or PNG document photograph via </a:t>
            </a:r>
            <a:r>
              <a:rPr dirty="0" err="1"/>
              <a:t>Streamlit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8568" y="1853873"/>
            <a:ext cx="1463040" cy="190352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14015" y="2072148"/>
            <a:ext cx="1280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rPr dirty="0"/>
              <a:t>2. Prep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dirty="0"/>
              <a:t>Image is resized and converted to grayscale for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5615" y="1853873"/>
            <a:ext cx="1463040" cy="190352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90772" y="2072148"/>
            <a:ext cx="1280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rPr dirty="0"/>
              <a:t>3. Detect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dirty="0"/>
              <a:t>Canny edge detection and contours locate paper corners.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12664" y="1853872"/>
            <a:ext cx="1463040" cy="190352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15533" y="2011680"/>
            <a:ext cx="1280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4. Correct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Perspective transform straightens the tilted page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39712" y="1853872"/>
            <a:ext cx="1463040" cy="190352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5160" y="2017087"/>
            <a:ext cx="1280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rPr dirty="0"/>
              <a:t>5. Enhance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dirty="0"/>
              <a:t>Filters and thresholding remove noise and shadows.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853872"/>
            <a:ext cx="1463040" cy="190352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19921" y="2017087"/>
            <a:ext cx="1280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rPr dirty="0"/>
              <a:t>6. Preview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dirty="0"/>
              <a:t>User inspects processed results before final export.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93808" y="1853872"/>
            <a:ext cx="1463040" cy="190352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17250" y="2072148"/>
            <a:ext cx="1280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rPr dirty="0"/>
              <a:t>7. Export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dirty="0"/>
              <a:t>Pages are compiled and downloaded as a clean PDF.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1285" y="4632468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4176" y="4769628"/>
            <a:ext cx="101800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rPr dirty="0"/>
              <a:t>How the Pipeline Operates Iteratively:</a:t>
            </a:r>
          </a:p>
          <a:p>
            <a:pPr>
              <a:spcBef>
                <a:spcPts val="300"/>
              </a:spcBef>
              <a:defRPr sz="1400">
                <a:solidFill>
                  <a:srgbClr val="0F172A"/>
                </a:solidFill>
              </a:defRPr>
            </a:pPr>
            <a:r>
              <a:rPr dirty="0"/>
              <a:t>• Sequential Flow: Each processing stage passes its refined output directly to the subsequent module, ensuring predictable transformations.</a:t>
            </a:r>
          </a:p>
          <a:p>
            <a:pPr>
              <a:spcBef>
                <a:spcPts val="300"/>
              </a:spcBef>
              <a:defRPr sz="1400">
                <a:solidFill>
                  <a:srgbClr val="0F172A"/>
                </a:solidFill>
              </a:defRPr>
            </a:pPr>
            <a:r>
              <a:rPr dirty="0"/>
              <a:t>• User Control: Users can inspect intermediate outputs (such as detected boundaries or </a:t>
            </a:r>
            <a:r>
              <a:rPr dirty="0" err="1"/>
              <a:t>thresholded</a:t>
            </a:r>
            <a:r>
              <a:rPr dirty="0"/>
              <a:t> text) to verify accuracy before PDF compilation.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Image Preparation &amp; Boundary Detection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Isolating the document region through grayscale conversion and contour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1. Input &amp; Resizing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</a:defRPr>
            </a:pPr>
            <a:r>
              <a:t>Large high-resolution photos are scaled down to manageable dimensions to optimize processing speed and reduce memory overhead.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12064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2. Grayscale Conversion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</a:defRPr>
            </a:pPr>
            <a:r>
              <a:t>Converting RGB channels into a single intensity channel simplifies edge calculations by removing color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12064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60519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rPr dirty="0"/>
              <a:t>3. Canny Edge Detection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</a:defRPr>
            </a:pPr>
            <a:r>
              <a:rPr dirty="0"/>
              <a:t>Identifies strong intensity gradients in the image, marking sharp boundaries where the paper meets the background 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12064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4160519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4. Contour Analysis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</a:defRPr>
            </a:pPr>
            <a:r>
              <a:t>Scans detected edges to find the largest closed four-sided polygon, successfully identifying the four outer corners of the document.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Perspective Correction &amp; Straightening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Transforming angled trapezoidal photographs into front-facing rectangular documents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The Angle Problem</a:t>
            </a:r>
          </a:p>
          <a:p>
            <a:br/>
            <a:r>
              <a:t>• Operational Detail:</a:t>
            </a:r>
            <a:br/>
            <a:r>
              <a:t>When documents are photographed from a handheld angle, rectangular pages appear distorted as trapezoids, making reading and printing difficult.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645920"/>
            <a:ext cx="256032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39312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Corner Mapping</a:t>
            </a:r>
          </a:p>
          <a:p>
            <a:br/>
            <a:r>
              <a:t>• Operational Detail:</a:t>
            </a:r>
            <a:br/>
            <a:r>
              <a:t>The four detected corner coordinates (top-left, top-right, bottom-right, bottom-left) are ordered precisely and mapped to destination dimensions.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256032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64224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Perspective Transform</a:t>
            </a:r>
          </a:p>
          <a:p>
            <a:br/>
            <a:r>
              <a:t>• Operational Detail:</a:t>
            </a:r>
            <a:br/>
            <a:r>
              <a:t>OpenCV computes a homography matrix to warp the angled region, digitally simulating a camera positioned directly above the page.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6032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89136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Expected Benefit</a:t>
            </a:r>
          </a:p>
          <a:p>
            <a:br/>
            <a:r>
              <a:t>• Operational Detail:</a:t>
            </a:r>
            <a:br/>
            <a:r>
              <a:t>Produces a clean, flat, perfectly rectangular document that resembles output from a physical hardware scanner.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Image Enhancement &amp; Readability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Applying noise reduction, lighting correction, and adaptive thresholding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57197"/>
            <a:ext cx="3447288" cy="310306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2555" y="2408903"/>
            <a:ext cx="308152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rPr dirty="0"/>
              <a:t>Noise Reduction</a:t>
            </a:r>
          </a:p>
          <a:p>
            <a:pPr>
              <a:spcBef>
                <a:spcPts val="400"/>
              </a:spcBef>
              <a:defRPr sz="1400" b="1">
                <a:solidFill>
                  <a:srgbClr val="2563EB"/>
                </a:solidFill>
              </a:defRPr>
            </a:pPr>
            <a:r>
              <a:rPr dirty="0"/>
              <a:t>Smoothing Filters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rPr dirty="0"/>
              <a:t>• Gaussian Filtering: Smooths pixel neighborhood values to reduce general sensor grain, though excessive smoothing can soften fine text.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rPr dirty="0"/>
              <a:t>• Median Filtering: Replaces pixels with median neighborhood values, highly effective at removing isolated speckles while preserving text edges.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2157197"/>
            <a:ext cx="3447288" cy="310306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91074" y="2487561"/>
            <a:ext cx="308152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rPr dirty="0"/>
              <a:t>Lighting &amp; Contrast</a:t>
            </a:r>
          </a:p>
          <a:p>
            <a:pPr>
              <a:spcBef>
                <a:spcPts val="400"/>
              </a:spcBef>
              <a:defRPr sz="1400" b="1">
                <a:solidFill>
                  <a:srgbClr val="2563EB"/>
                </a:solidFill>
              </a:defRPr>
            </a:pPr>
            <a:r>
              <a:rPr dirty="0"/>
              <a:t>CLAHE &amp; Equalization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rPr dirty="0"/>
              <a:t>• Local Contrast Enhancement: Enhances contrast in small localized tiles rather than globally, revealing faint characters in shadowed areas.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rPr dirty="0"/>
              <a:t>• Background Lighting Estimation: Adjusts uneven illumination across the page to ensure uniform brightness.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2157196"/>
            <a:ext cx="3447288" cy="3103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30386" y="2399071"/>
            <a:ext cx="308152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rPr dirty="0"/>
              <a:t>B&amp;W Conversion</a:t>
            </a:r>
          </a:p>
          <a:p>
            <a:pPr>
              <a:spcBef>
                <a:spcPts val="400"/>
              </a:spcBef>
              <a:defRPr sz="1400" b="1">
                <a:solidFill>
                  <a:srgbClr val="2563EB"/>
                </a:solidFill>
              </a:defRPr>
            </a:pPr>
            <a:r>
              <a:rPr dirty="0"/>
              <a:t>Thresholding Methods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rPr dirty="0"/>
              <a:t>• Global Otsu Thresholding: Computes a single optimal threshold for evenly lit pages to separate dark text from light paper cleanly.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rPr dirty="0"/>
              <a:t>• Adaptive Thresholding: Calculates thresholds dynamically from nearby pixel neighborhoods, handling severe shadows effectively.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Application Interface &amp; User Interaction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Streamlining document scanning through an intuitive web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User Journey &amp; Steps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Image Selection: User uploads a document photo (JPEG/PNG) via Streamlit's file uploader widget.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Visual Inspection: The original photo is displayed alongside real-time processing previews.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Parameter Tuning: Users can toggle filters, adjust thresholding, and inspect histograms.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Batch Compilation: Multiple processed pages are gathered and compiled into a single PDF document.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Interface Design Principles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Simplicity First: Clean, uncluttered layout designed specifically for non-technical users.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Immediate Feedback: Side-by-side comparison of original input versus enhanced output.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Modular Controls: Clear buttons and sliders for adjusting processing parameters easily.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Cross-Platform: Accessible via standard web browsers without requiring local software installation.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Results, Observations &amp; Discussion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Evaluating qualitative outcomes across diverse test document conditions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47288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308152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Observed Results</a:t>
            </a:r>
          </a:p>
          <a:p>
            <a:br/>
            <a:r>
              <a:t>• Evaluation Finding:</a:t>
            </a:r>
            <a:br/>
            <a:r>
              <a:t>Successfully demonstrated straightening of angled photos, shadow removal via adaptive thresholding, and clean multi-page PDF compilation.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645920"/>
            <a:ext cx="3447288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53712" y="1920240"/>
            <a:ext cx="308152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Practical Benefits</a:t>
            </a:r>
          </a:p>
          <a:p>
            <a:br/>
            <a:r>
              <a:t>• Evaluation Finding:</a:t>
            </a:r>
            <a:br/>
            <a:r>
              <a:t>Provides students and offices with a fast, lightweight mobile-accessible scanning tool without requiring specialized physical hardware.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645920"/>
            <a:ext cx="3447288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3024" y="1920240"/>
            <a:ext cx="308152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Critical Observations</a:t>
            </a:r>
          </a:p>
          <a:p>
            <a:br/>
            <a:r>
              <a:t>• Evaluation Finding:</a:t>
            </a:r>
            <a:br/>
            <a:r>
              <a:t>Performance varies depending on lighting quality, background contrast, and edge visibility. Qualitative testing confirms robust operation under standard conditions.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Limitations &amp; Future Improvements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Addressing current operational constraints and proposing future feature expansions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90049"/>
            <a:ext cx="5120640" cy="330953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90916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rPr dirty="0"/>
              <a:t>Current Limitations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rPr dirty="0"/>
              <a:t>• Background Confusion: Difficulty detecting page boundaries when paper color matches the underlying surface.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rPr dirty="0"/>
              <a:t>• Curved &amp; Folded Pages: Standard perspective transform assumes flat pages, struggling with bound books or crumpled paper.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rPr dirty="0"/>
              <a:t>• Motion Blur: Severe blur destroys edge gradients, hindering Canny edge detection and text sharpening.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90048"/>
            <a:ext cx="5120640" cy="33095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3570" y="2290916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rPr dirty="0"/>
              <a:t>Proposed Future Work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rPr dirty="0"/>
              <a:t>• Optical Character Recognition (OCR): Integrate Tesseract OCR to enable searchable and copyable text from scans.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rPr dirty="0"/>
              <a:t>• Advanced Corner Detection: Implement machine-learning-assisted boundary detection for complex backgrounds.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rPr dirty="0"/>
              <a:t>• Batch Processing: Enhance pipeline to support bulk multi-file uploads and automated cloud export options.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Conclusion &amp; Questions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Summary of project contributions and open floor for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375199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Project Summary &amp; Key Takeaways</a:t>
            </a:r>
          </a:p>
          <a:p>
            <a:pPr>
              <a:spcBef>
                <a:spcPts val="1200"/>
              </a:spcBef>
              <a:defRPr sz="1600">
                <a:solidFill>
                  <a:srgbClr val="0F172A"/>
                </a:solidFill>
              </a:defRPr>
            </a:pPr>
            <a:r>
              <a:t>• Practical Application: Successfully combined Python, OpenCV, NumPy, and Streamlit into a cohesive document digitization tool.</a:t>
            </a:r>
          </a:p>
          <a:p>
            <a:pPr>
              <a:spcBef>
                <a:spcPts val="1200"/>
              </a:spcBef>
              <a:defRPr sz="1600">
                <a:solidFill>
                  <a:srgbClr val="0F172A"/>
                </a:solidFill>
              </a:defRPr>
            </a:pPr>
            <a:r>
              <a:t>• Core Pipeline: Demonstrated end-to-end image preparation, boundary detection, perspective correction, enhancement, and PDF export.</a:t>
            </a:r>
          </a:p>
          <a:p>
            <a:pPr>
              <a:spcBef>
                <a:spcPts val="1200"/>
              </a:spcBef>
              <a:defRPr sz="1600">
                <a:solidFill>
                  <a:srgbClr val="0F172A"/>
                </a:solidFill>
              </a:defRPr>
            </a:pPr>
            <a:r>
              <a:t>• Educational Value: Provided a clear, transparent implementation of computer-vision fundamentals without relying on opaque models.</a:t>
            </a:r>
          </a:p>
          <a:p>
            <a:pPr>
              <a:spcBef>
                <a:spcPts val="1200"/>
              </a:spcBef>
              <a:defRPr sz="1600">
                <a:solidFill>
                  <a:srgbClr val="0F172A"/>
                </a:solidFill>
              </a:defRPr>
            </a:pPr>
            <a:r>
              <a:t>• Thank You! We are now open to your questions, feedback, and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1588</Words>
  <Application>Microsoft Office PowerPoint</Application>
  <PresentationFormat>Widescreen</PresentationFormat>
  <Paragraphs>136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Sakshi Baghel</cp:lastModifiedBy>
  <cp:revision>3</cp:revision>
  <dcterms:created xsi:type="dcterms:W3CDTF">2013-01-27T09:14:16Z</dcterms:created>
  <dcterms:modified xsi:type="dcterms:W3CDTF">2026-10-29T13:13:09Z</dcterms:modified>
  <cp:category/>
</cp:coreProperties>
</file>